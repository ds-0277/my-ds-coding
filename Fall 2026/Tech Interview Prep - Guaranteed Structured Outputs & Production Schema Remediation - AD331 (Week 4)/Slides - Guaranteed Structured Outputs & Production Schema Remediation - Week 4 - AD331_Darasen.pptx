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9" r:id="rId1"/>
  </p:sldMasterIdLst>
  <p:notesMasterIdLst>
    <p:notesMasterId r:id="rId8"/>
  </p:notesMasterIdLst>
  <p:sldIdLst>
    <p:sldId id="256"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137"/>
    <p:restoredTop sz="94552"/>
  </p:normalViewPr>
  <p:slideViewPr>
    <p:cSldViewPr snapToGrid="0">
      <p:cViewPr varScale="1">
        <p:scale>
          <a:sx n="75" d="100"/>
          <a:sy n="75" d="100"/>
        </p:scale>
        <p:origin x="184" y="2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E0D74-F540-0B4B-8289-4EBC13976199}" type="datetimeFigureOut">
              <a:rPr lang="en-KH" smtClean="0"/>
              <a:t>22/10/26</a:t>
            </a:fld>
            <a:endParaRPr lang="en-K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E09263-0E84-D64B-ABDD-1FBA5621AB16}" type="slidenum">
              <a:rPr lang="en-KH" smtClean="0"/>
              <a:t>‹#›</a:t>
            </a:fld>
            <a:endParaRPr lang="en-KH"/>
          </a:p>
        </p:txBody>
      </p:sp>
    </p:spTree>
    <p:extLst>
      <p:ext uri="{BB962C8B-B14F-4D97-AF65-F5344CB8AC3E}">
        <p14:creationId xmlns:p14="http://schemas.microsoft.com/office/powerpoint/2010/main" val="1450672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308C7-8D83-60F4-7854-20EB788B7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F263-7117-2049-7622-59AE02F778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B234D1-9230-8180-622A-081089216549}"/>
              </a:ext>
            </a:extLst>
          </p:cNvPr>
          <p:cNvSpPr>
            <a:spLocks noGrp="1"/>
          </p:cNvSpPr>
          <p:nvPr>
            <p:ph type="body" idx="1"/>
          </p:nvPr>
        </p:nvSpPr>
        <p:spPr/>
        <p:txBody>
          <a:bodyPr/>
          <a:lstStyle/>
          <a:p>
            <a:endParaRPr lang="en-KH" dirty="0"/>
          </a:p>
        </p:txBody>
      </p:sp>
      <p:sp>
        <p:nvSpPr>
          <p:cNvPr id="4" name="Slide Number Placeholder 3">
            <a:extLst>
              <a:ext uri="{FF2B5EF4-FFF2-40B4-BE49-F238E27FC236}">
                <a16:creationId xmlns:a16="http://schemas.microsoft.com/office/drawing/2014/main" id="{2F7F13AA-623E-6A20-4E50-53066E39A05D}"/>
              </a:ext>
            </a:extLst>
          </p:cNvPr>
          <p:cNvSpPr>
            <a:spLocks noGrp="1"/>
          </p:cNvSpPr>
          <p:nvPr>
            <p:ph type="sldNum" sz="quarter" idx="5"/>
          </p:nvPr>
        </p:nvSpPr>
        <p:spPr/>
        <p:txBody>
          <a:bodyPr/>
          <a:lstStyle/>
          <a:p>
            <a:fld id="{CEE09263-0E84-D64B-ABDD-1FBA5621AB16}" type="slidenum">
              <a:rPr lang="en-KH" smtClean="0"/>
              <a:t>2</a:t>
            </a:fld>
            <a:endParaRPr lang="en-KH"/>
          </a:p>
        </p:txBody>
      </p:sp>
    </p:spTree>
    <p:extLst>
      <p:ext uri="{BB962C8B-B14F-4D97-AF65-F5344CB8AC3E}">
        <p14:creationId xmlns:p14="http://schemas.microsoft.com/office/powerpoint/2010/main" val="3690576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328CE-0BB6-E26E-B40E-A88B824B2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C620D-813F-1FC0-9C53-C2A868B2D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D3EF69-AA3A-382D-8BFD-F08020BDBADE}"/>
              </a:ext>
            </a:extLst>
          </p:cNvPr>
          <p:cNvSpPr>
            <a:spLocks noGrp="1"/>
          </p:cNvSpPr>
          <p:nvPr>
            <p:ph type="body" idx="1"/>
          </p:nvPr>
        </p:nvSpPr>
        <p:spPr/>
        <p:txBody>
          <a:bodyPr/>
          <a:lstStyle/>
          <a:p>
            <a:endParaRPr lang="en-KH" dirty="0"/>
          </a:p>
        </p:txBody>
      </p:sp>
      <p:sp>
        <p:nvSpPr>
          <p:cNvPr id="4" name="Slide Number Placeholder 3">
            <a:extLst>
              <a:ext uri="{FF2B5EF4-FFF2-40B4-BE49-F238E27FC236}">
                <a16:creationId xmlns:a16="http://schemas.microsoft.com/office/drawing/2014/main" id="{C3485A61-EE94-27B6-1F07-35CC85A63FAE}"/>
              </a:ext>
            </a:extLst>
          </p:cNvPr>
          <p:cNvSpPr>
            <a:spLocks noGrp="1"/>
          </p:cNvSpPr>
          <p:nvPr>
            <p:ph type="sldNum" sz="quarter" idx="5"/>
          </p:nvPr>
        </p:nvSpPr>
        <p:spPr/>
        <p:txBody>
          <a:bodyPr/>
          <a:lstStyle/>
          <a:p>
            <a:fld id="{CEE09263-0E84-D64B-ABDD-1FBA5621AB16}" type="slidenum">
              <a:rPr lang="en-KH" smtClean="0"/>
              <a:t>3</a:t>
            </a:fld>
            <a:endParaRPr lang="en-KH"/>
          </a:p>
        </p:txBody>
      </p:sp>
    </p:spTree>
    <p:extLst>
      <p:ext uri="{BB962C8B-B14F-4D97-AF65-F5344CB8AC3E}">
        <p14:creationId xmlns:p14="http://schemas.microsoft.com/office/powerpoint/2010/main" val="3617473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95669-409A-57C9-52A2-2BE4FAB77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365DD-8FD9-58D9-0B96-54641D476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F6A30-B220-1395-1CDB-C529FE05E003}"/>
              </a:ext>
            </a:extLst>
          </p:cNvPr>
          <p:cNvSpPr>
            <a:spLocks noGrp="1"/>
          </p:cNvSpPr>
          <p:nvPr>
            <p:ph type="body" idx="1"/>
          </p:nvPr>
        </p:nvSpPr>
        <p:spPr/>
        <p:txBody>
          <a:bodyPr/>
          <a:lstStyle/>
          <a:p>
            <a:endParaRPr lang="en-KH" dirty="0"/>
          </a:p>
        </p:txBody>
      </p:sp>
      <p:sp>
        <p:nvSpPr>
          <p:cNvPr id="4" name="Slide Number Placeholder 3">
            <a:extLst>
              <a:ext uri="{FF2B5EF4-FFF2-40B4-BE49-F238E27FC236}">
                <a16:creationId xmlns:a16="http://schemas.microsoft.com/office/drawing/2014/main" id="{8AE5D133-0C2A-7D80-2EAC-D3347691A001}"/>
              </a:ext>
            </a:extLst>
          </p:cNvPr>
          <p:cNvSpPr>
            <a:spLocks noGrp="1"/>
          </p:cNvSpPr>
          <p:nvPr>
            <p:ph type="sldNum" sz="quarter" idx="5"/>
          </p:nvPr>
        </p:nvSpPr>
        <p:spPr/>
        <p:txBody>
          <a:bodyPr/>
          <a:lstStyle/>
          <a:p>
            <a:fld id="{CEE09263-0E84-D64B-ABDD-1FBA5621AB16}" type="slidenum">
              <a:rPr lang="en-KH" smtClean="0"/>
              <a:t>4</a:t>
            </a:fld>
            <a:endParaRPr lang="en-KH"/>
          </a:p>
        </p:txBody>
      </p:sp>
    </p:spTree>
    <p:extLst>
      <p:ext uri="{BB962C8B-B14F-4D97-AF65-F5344CB8AC3E}">
        <p14:creationId xmlns:p14="http://schemas.microsoft.com/office/powerpoint/2010/main" val="3200652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E96F-5B0B-D2A0-D2D5-809689737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7DF4C-3C61-1E9A-0C54-00E01D54C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8D9C16-EC0F-8C26-5C4A-FD141EFF08AA}"/>
              </a:ext>
            </a:extLst>
          </p:cNvPr>
          <p:cNvSpPr>
            <a:spLocks noGrp="1"/>
          </p:cNvSpPr>
          <p:nvPr>
            <p:ph type="body" idx="1"/>
          </p:nvPr>
        </p:nvSpPr>
        <p:spPr/>
        <p:txBody>
          <a:bodyPr/>
          <a:lstStyle/>
          <a:p>
            <a:endParaRPr lang="en-KH" dirty="0"/>
          </a:p>
        </p:txBody>
      </p:sp>
      <p:sp>
        <p:nvSpPr>
          <p:cNvPr id="4" name="Slide Number Placeholder 3">
            <a:extLst>
              <a:ext uri="{FF2B5EF4-FFF2-40B4-BE49-F238E27FC236}">
                <a16:creationId xmlns:a16="http://schemas.microsoft.com/office/drawing/2014/main" id="{7C42FAAD-10A6-E82A-E243-D3C52A3556D7}"/>
              </a:ext>
            </a:extLst>
          </p:cNvPr>
          <p:cNvSpPr>
            <a:spLocks noGrp="1"/>
          </p:cNvSpPr>
          <p:nvPr>
            <p:ph type="sldNum" sz="quarter" idx="5"/>
          </p:nvPr>
        </p:nvSpPr>
        <p:spPr/>
        <p:txBody>
          <a:bodyPr/>
          <a:lstStyle/>
          <a:p>
            <a:fld id="{CEE09263-0E84-D64B-ABDD-1FBA5621AB16}" type="slidenum">
              <a:rPr lang="en-KH" smtClean="0"/>
              <a:t>5</a:t>
            </a:fld>
            <a:endParaRPr lang="en-KH"/>
          </a:p>
        </p:txBody>
      </p:sp>
    </p:spTree>
    <p:extLst>
      <p:ext uri="{BB962C8B-B14F-4D97-AF65-F5344CB8AC3E}">
        <p14:creationId xmlns:p14="http://schemas.microsoft.com/office/powerpoint/2010/main" val="3442470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E48C-1D92-C56D-2023-7FDE61E73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BFF45-4302-0D94-827C-F3AA4F347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11F08-8EC4-FB6B-11D2-F4B6E49EF351}"/>
              </a:ext>
            </a:extLst>
          </p:cNvPr>
          <p:cNvSpPr>
            <a:spLocks noGrp="1"/>
          </p:cNvSpPr>
          <p:nvPr>
            <p:ph type="body" idx="1"/>
          </p:nvPr>
        </p:nvSpPr>
        <p:spPr/>
        <p:txBody>
          <a:bodyPr/>
          <a:lstStyle/>
          <a:p>
            <a:endParaRPr lang="en-KH" dirty="0"/>
          </a:p>
        </p:txBody>
      </p:sp>
      <p:sp>
        <p:nvSpPr>
          <p:cNvPr id="4" name="Slide Number Placeholder 3">
            <a:extLst>
              <a:ext uri="{FF2B5EF4-FFF2-40B4-BE49-F238E27FC236}">
                <a16:creationId xmlns:a16="http://schemas.microsoft.com/office/drawing/2014/main" id="{AFE55D16-1C31-D6EE-56E1-E3AF3077E073}"/>
              </a:ext>
            </a:extLst>
          </p:cNvPr>
          <p:cNvSpPr>
            <a:spLocks noGrp="1"/>
          </p:cNvSpPr>
          <p:nvPr>
            <p:ph type="sldNum" sz="quarter" idx="5"/>
          </p:nvPr>
        </p:nvSpPr>
        <p:spPr/>
        <p:txBody>
          <a:bodyPr/>
          <a:lstStyle/>
          <a:p>
            <a:fld id="{CEE09263-0E84-D64B-ABDD-1FBA5621AB16}" type="slidenum">
              <a:rPr lang="en-KH" smtClean="0"/>
              <a:t>6</a:t>
            </a:fld>
            <a:endParaRPr lang="en-KH"/>
          </a:p>
        </p:txBody>
      </p:sp>
    </p:spTree>
    <p:extLst>
      <p:ext uri="{BB962C8B-B14F-4D97-AF65-F5344CB8AC3E}">
        <p14:creationId xmlns:p14="http://schemas.microsoft.com/office/powerpoint/2010/main" val="340375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261551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2281389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693116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2E9089-F0D7-D343-B75E-13BEDC86ED40}" type="datetimeFigureOut">
              <a:rPr lang="en-KH" smtClean="0"/>
              <a:t>22/10/26</a:t>
            </a:fld>
            <a:endParaRPr lang="en-KH"/>
          </a:p>
        </p:txBody>
      </p:sp>
      <p:sp>
        <p:nvSpPr>
          <p:cNvPr id="6" name="Footer Placeholder 5"/>
          <p:cNvSpPr>
            <a:spLocks noGrp="1"/>
          </p:cNvSpPr>
          <p:nvPr>
            <p:ph type="ftr" sz="quarter" idx="11"/>
          </p:nvPr>
        </p:nvSpPr>
        <p:spPr/>
        <p:txBody>
          <a:bodyPr/>
          <a:lstStyle/>
          <a:p>
            <a:endParaRPr lang="en-KH"/>
          </a:p>
        </p:txBody>
      </p:sp>
      <p:sp>
        <p:nvSpPr>
          <p:cNvPr id="7" name="Slide Number Placeholder 6"/>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125425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2E9089-F0D7-D343-B75E-13BEDC86ED40}" type="datetimeFigureOut">
              <a:rPr lang="en-KH" smtClean="0"/>
              <a:t>22/10/26</a:t>
            </a:fld>
            <a:endParaRPr lang="en-KH"/>
          </a:p>
        </p:txBody>
      </p:sp>
      <p:sp>
        <p:nvSpPr>
          <p:cNvPr id="8" name="Footer Placeholder 7"/>
          <p:cNvSpPr>
            <a:spLocks noGrp="1"/>
          </p:cNvSpPr>
          <p:nvPr>
            <p:ph type="ftr" sz="quarter" idx="11"/>
          </p:nvPr>
        </p:nvSpPr>
        <p:spPr/>
        <p:txBody>
          <a:bodyPr/>
          <a:lstStyle/>
          <a:p>
            <a:endParaRPr lang="en-KH"/>
          </a:p>
        </p:txBody>
      </p:sp>
      <p:sp>
        <p:nvSpPr>
          <p:cNvPr id="9" name="Slide Number Placeholder 8"/>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4038796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3"/>
          <p:cNvSpPr>
            <a:spLocks noGrp="1"/>
          </p:cNvSpPr>
          <p:nvPr>
            <p:ph type="ftr" sz="quarter" idx="11"/>
          </p:nvPr>
        </p:nvSpPr>
        <p:spPr/>
        <p:txBody>
          <a:bodyPr/>
          <a:lstStyle/>
          <a:p>
            <a:endParaRPr lang="en-KH"/>
          </a:p>
        </p:txBody>
      </p:sp>
      <p:sp>
        <p:nvSpPr>
          <p:cNvPr id="6" name="Slide Number Placeholder 4"/>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300876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2"/>
          <p:cNvSpPr>
            <a:spLocks noGrp="1"/>
          </p:cNvSpPr>
          <p:nvPr>
            <p:ph type="ftr" sz="quarter" idx="11"/>
          </p:nvPr>
        </p:nvSpPr>
        <p:spPr/>
        <p:txBody>
          <a:bodyPr/>
          <a:lstStyle/>
          <a:p>
            <a:endParaRPr lang="en-KH"/>
          </a:p>
        </p:txBody>
      </p:sp>
      <p:sp>
        <p:nvSpPr>
          <p:cNvPr id="6" name="Slide Number Placeholder 3"/>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2921242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5"/>
          <p:cNvSpPr>
            <a:spLocks noGrp="1"/>
          </p:cNvSpPr>
          <p:nvPr>
            <p:ph type="ftr" sz="quarter" idx="11"/>
          </p:nvPr>
        </p:nvSpPr>
        <p:spPr/>
        <p:txBody>
          <a:bodyPr/>
          <a:lstStyle/>
          <a:p>
            <a:endParaRPr lang="en-KH"/>
          </a:p>
        </p:txBody>
      </p:sp>
      <p:sp>
        <p:nvSpPr>
          <p:cNvPr id="6" name="Slide Number Placeholder 6"/>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537893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2E9089-F0D7-D343-B75E-13BEDC86ED40}" type="datetimeFigureOut">
              <a:rPr lang="en-KH" smtClean="0"/>
              <a:t>22/10/26</a:t>
            </a:fld>
            <a:endParaRPr lang="en-KH"/>
          </a:p>
        </p:txBody>
      </p:sp>
      <p:sp>
        <p:nvSpPr>
          <p:cNvPr id="6" name="Footer Placeholder 5"/>
          <p:cNvSpPr>
            <a:spLocks noGrp="1"/>
          </p:cNvSpPr>
          <p:nvPr>
            <p:ph type="ftr" sz="quarter" idx="11"/>
          </p:nvPr>
        </p:nvSpPr>
        <p:spPr/>
        <p:txBody>
          <a:bodyPr/>
          <a:lstStyle/>
          <a:p>
            <a:endParaRPr lang="en-KH"/>
          </a:p>
        </p:txBody>
      </p:sp>
      <p:sp>
        <p:nvSpPr>
          <p:cNvPr id="7" name="Slide Number Placeholder 6"/>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1455995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2E9089-F0D7-D343-B75E-13BEDC86ED40}" type="datetimeFigureOut">
              <a:rPr lang="en-KH" smtClean="0"/>
              <a:t>22/10/26</a:t>
            </a:fld>
            <a:endParaRPr lang="en-KH"/>
          </a:p>
        </p:txBody>
      </p:sp>
      <p:sp>
        <p:nvSpPr>
          <p:cNvPr id="6" name="Footer Placeholder 5"/>
          <p:cNvSpPr>
            <a:spLocks noGrp="1"/>
          </p:cNvSpPr>
          <p:nvPr>
            <p:ph type="ftr" sz="quarter" idx="11"/>
          </p:nvPr>
        </p:nvSpPr>
        <p:spPr/>
        <p:txBody>
          <a:bodyPr/>
          <a:lstStyle/>
          <a:p>
            <a:endParaRPr lang="en-KH"/>
          </a:p>
        </p:txBody>
      </p:sp>
      <p:sp>
        <p:nvSpPr>
          <p:cNvPr id="7" name="Slide Number Placeholder 6"/>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96272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448834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34064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20509504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4"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526945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4"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1657808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3051068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E9089-F0D7-D343-B75E-13BEDC86ED40}" type="datetimeFigureOut">
              <a:rPr lang="en-KH" smtClean="0"/>
              <a:t>22/10/26</a:t>
            </a:fld>
            <a:endParaRPr lang="en-KH"/>
          </a:p>
        </p:txBody>
      </p:sp>
      <p:sp>
        <p:nvSpPr>
          <p:cNvPr id="5" name="Footer Placeholder 4"/>
          <p:cNvSpPr>
            <a:spLocks noGrp="1"/>
          </p:cNvSpPr>
          <p:nvPr>
            <p:ph type="ftr" sz="quarter" idx="11"/>
          </p:nvPr>
        </p:nvSpPr>
        <p:spPr/>
        <p:txBody>
          <a:bodyPr/>
          <a:lstStyle/>
          <a:p>
            <a:endParaRPr lang="en-KH"/>
          </a:p>
        </p:txBody>
      </p:sp>
      <p:sp>
        <p:nvSpPr>
          <p:cNvPr id="6" name="Slide Number Placeholder 5"/>
          <p:cNvSpPr>
            <a:spLocks noGrp="1"/>
          </p:cNvSpPr>
          <p:nvPr>
            <p:ph type="sldNum" sz="quarter" idx="12"/>
          </p:nvPr>
        </p:nvSpPr>
        <p:spPr/>
        <p:txBody>
          <a:bodyPr/>
          <a:lstStyle/>
          <a:p>
            <a:fld id="{20A8EB23-9884-9F43-BB57-368414B045BF}" type="slidenum">
              <a:rPr lang="en-KH" smtClean="0"/>
              <a:t>‹#›</a:t>
            </a:fld>
            <a:endParaRPr lang="en-KH"/>
          </a:p>
        </p:txBody>
      </p:sp>
    </p:spTree>
    <p:extLst>
      <p:ext uri="{BB962C8B-B14F-4D97-AF65-F5344CB8AC3E}">
        <p14:creationId xmlns:p14="http://schemas.microsoft.com/office/powerpoint/2010/main" val="2350914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H"/>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H"/>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2E9089-F0D7-D343-B75E-13BEDC86ED40}" type="datetimeFigureOut">
              <a:rPr lang="en-KH" smtClean="0"/>
              <a:t>22/10/26</a:t>
            </a:fld>
            <a:endParaRPr lang="en-K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K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0A8EB23-9884-9F43-BB57-368414B045BF}" type="slidenum">
              <a:rPr lang="en-KH" smtClean="0"/>
              <a:t>‹#›</a:t>
            </a:fld>
            <a:endParaRPr lang="en-KH"/>
          </a:p>
        </p:txBody>
      </p:sp>
    </p:spTree>
    <p:extLst>
      <p:ext uri="{BB962C8B-B14F-4D97-AF65-F5344CB8AC3E}">
        <p14:creationId xmlns:p14="http://schemas.microsoft.com/office/powerpoint/2010/main" val="4287913013"/>
      </p:ext>
    </p:extLst>
  </p:cSld>
  <p:clrMap bg1="dk1" tx1="lt1" bg2="dk2" tx2="lt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 id="2147484041" r:id="rId12"/>
    <p:sldLayoutId id="2147484042" r:id="rId13"/>
    <p:sldLayoutId id="2147484043" r:id="rId14"/>
    <p:sldLayoutId id="2147484044" r:id="rId15"/>
    <p:sldLayoutId id="2147484045" r:id="rId16"/>
    <p:sldLayoutId id="214748404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1DB6-5D5B-1FA4-7DF3-AC94425F3ADC}"/>
              </a:ext>
            </a:extLst>
          </p:cNvPr>
          <p:cNvSpPr>
            <a:spLocks noGrp="1"/>
          </p:cNvSpPr>
          <p:nvPr>
            <p:ph type="ctrTitle"/>
          </p:nvPr>
        </p:nvSpPr>
        <p:spPr>
          <a:xfrm>
            <a:off x="117231" y="484912"/>
            <a:ext cx="11910646" cy="4767026"/>
          </a:xfrm>
        </p:spPr>
        <p:txBody>
          <a:bodyPr>
            <a:normAutofit/>
          </a:bodyPr>
          <a:lstStyle/>
          <a:p>
            <a:pPr algn="l"/>
            <a:r>
              <a:rPr lang="en-KH" sz="2000" dirty="0"/>
              <a:t>Tech Interview Prep:</a:t>
            </a:r>
            <a:br>
              <a:rPr lang="en-KH" sz="2000" dirty="0"/>
            </a:br>
            <a:br>
              <a:rPr lang="en-KH" sz="2000" dirty="0"/>
            </a:br>
            <a:r>
              <a:rPr lang="en-KH" sz="2000" b="1" dirty="0"/>
              <a:t>Guaranteed Structured Outputs &amp; Production Schema Remediation</a:t>
            </a:r>
            <a:br>
              <a:rPr lang="en-KH" sz="2000" b="1" dirty="0"/>
            </a:br>
            <a:br>
              <a:rPr lang="en-KH" sz="2000" b="1" dirty="0"/>
            </a:br>
            <a:r>
              <a:rPr lang="en-KH" sz="2000" dirty="0"/>
              <a:t>“How do you guarantee that an LLM outputs parseable JSON for downstream services, and how do you remediate schema drifting in production?”</a:t>
            </a:r>
            <a:br>
              <a:rPr lang="en-KH" sz="2000" dirty="0"/>
            </a:br>
            <a:br>
              <a:rPr lang="en-KH" sz="2000" dirty="0"/>
            </a:br>
            <a:br>
              <a:rPr lang="en-KH" sz="2000" dirty="0"/>
            </a:br>
            <a:r>
              <a:rPr lang="en-KH" sz="2000" dirty="0"/>
              <a:t>1) How to guarantee structured output during generation</a:t>
            </a:r>
            <a:br>
              <a:rPr lang="en-KH" sz="2000" dirty="0"/>
            </a:br>
            <a:r>
              <a:rPr lang="en-KH" sz="2000" dirty="0"/>
              <a:t>2) How to detect and remediate schema drift in production</a:t>
            </a:r>
            <a:br>
              <a:rPr lang="en-KH" sz="2000" dirty="0"/>
            </a:br>
            <a:br>
              <a:rPr lang="en-KH" sz="2000" b="1" dirty="0"/>
            </a:br>
            <a:br>
              <a:rPr lang="en-KH" sz="2000" b="1" dirty="0"/>
            </a:br>
            <a:endParaRPr lang="en-KH" sz="2200" dirty="0">
              <a:solidFill>
                <a:schemeClr val="tx1">
                  <a:alpha val="90000"/>
                </a:schemeClr>
              </a:solidFill>
            </a:endParaRPr>
          </a:p>
        </p:txBody>
      </p:sp>
      <p:sp>
        <p:nvSpPr>
          <p:cNvPr id="3" name="Subtitle 2">
            <a:extLst>
              <a:ext uri="{FF2B5EF4-FFF2-40B4-BE49-F238E27FC236}">
                <a16:creationId xmlns:a16="http://schemas.microsoft.com/office/drawing/2014/main" id="{C37544B9-B0E6-1AD5-4828-1D09436C6E52}"/>
              </a:ext>
            </a:extLst>
          </p:cNvPr>
          <p:cNvSpPr>
            <a:spLocks noGrp="1"/>
          </p:cNvSpPr>
          <p:nvPr>
            <p:ph type="subTitle" idx="1"/>
          </p:nvPr>
        </p:nvSpPr>
        <p:spPr>
          <a:xfrm>
            <a:off x="2451378" y="5720862"/>
            <a:ext cx="7289245" cy="808372"/>
          </a:xfrm>
        </p:spPr>
        <p:txBody>
          <a:bodyPr>
            <a:normAutofit lnSpcReduction="10000"/>
          </a:bodyPr>
          <a:lstStyle/>
          <a:p>
            <a:r>
              <a:rPr lang="en-KH" dirty="0"/>
              <a:t>Name: Dara Sen</a:t>
            </a:r>
          </a:p>
          <a:p>
            <a:r>
              <a:rPr lang="en-KH" dirty="0"/>
              <a:t>Class: AD331 (Artificial Intelligence)</a:t>
            </a:r>
          </a:p>
        </p:txBody>
      </p:sp>
    </p:spTree>
    <p:extLst>
      <p:ext uri="{BB962C8B-B14F-4D97-AF65-F5344CB8AC3E}">
        <p14:creationId xmlns:p14="http://schemas.microsoft.com/office/powerpoint/2010/main" val="3187057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4832D-D25D-873F-DB60-1D4408CCE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B84E2-C9BD-F9CE-3D1F-3191FEE98AF9}"/>
              </a:ext>
            </a:extLst>
          </p:cNvPr>
          <p:cNvSpPr>
            <a:spLocks noGrp="1"/>
          </p:cNvSpPr>
          <p:nvPr>
            <p:ph type="ctrTitle"/>
          </p:nvPr>
        </p:nvSpPr>
        <p:spPr>
          <a:xfrm>
            <a:off x="0" y="0"/>
            <a:ext cx="12192000" cy="609600"/>
          </a:xfrm>
        </p:spPr>
        <p:txBody>
          <a:bodyPr>
            <a:normAutofit/>
          </a:bodyPr>
          <a:lstStyle/>
          <a:p>
            <a:pPr algn="just"/>
            <a:r>
              <a:rPr lang="en-KH" sz="2000" dirty="0">
                <a:latin typeface="Century" panose="02040604050505020304" pitchFamily="18" charset="0"/>
              </a:rPr>
              <a:t>Enforcement Mechanisms: Token-Level Constrained Decoding</a:t>
            </a:r>
          </a:p>
        </p:txBody>
      </p:sp>
      <p:pic>
        <p:nvPicPr>
          <p:cNvPr id="5" name="Picture 4">
            <a:extLst>
              <a:ext uri="{FF2B5EF4-FFF2-40B4-BE49-F238E27FC236}">
                <a16:creationId xmlns:a16="http://schemas.microsoft.com/office/drawing/2014/main" id="{163E49AF-1253-D0C1-BE5A-41FC908BF53C}"/>
              </a:ext>
            </a:extLst>
          </p:cNvPr>
          <p:cNvPicPr>
            <a:picLocks noChangeAspect="1"/>
          </p:cNvPicPr>
          <p:nvPr/>
        </p:nvPicPr>
        <p:blipFill>
          <a:blip r:embed="rId3"/>
          <a:stretch>
            <a:fillRect/>
          </a:stretch>
        </p:blipFill>
        <p:spPr>
          <a:xfrm>
            <a:off x="1280924" y="982134"/>
            <a:ext cx="9630151" cy="5374967"/>
          </a:xfrm>
          <a:prstGeom prst="rect">
            <a:avLst/>
          </a:prstGeom>
        </p:spPr>
      </p:pic>
    </p:spTree>
    <p:extLst>
      <p:ext uri="{BB962C8B-B14F-4D97-AF65-F5344CB8AC3E}">
        <p14:creationId xmlns:p14="http://schemas.microsoft.com/office/powerpoint/2010/main" val="746506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BF2E-0A92-3FB6-DF83-C568D65F0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32430-C268-0B65-E544-A876BEBF86E2}"/>
              </a:ext>
            </a:extLst>
          </p:cNvPr>
          <p:cNvSpPr>
            <a:spLocks noGrp="1"/>
          </p:cNvSpPr>
          <p:nvPr>
            <p:ph type="ctrTitle"/>
          </p:nvPr>
        </p:nvSpPr>
        <p:spPr>
          <a:xfrm>
            <a:off x="0" y="0"/>
            <a:ext cx="12192000" cy="609600"/>
          </a:xfrm>
        </p:spPr>
        <p:txBody>
          <a:bodyPr>
            <a:normAutofit/>
          </a:bodyPr>
          <a:lstStyle/>
          <a:p>
            <a:pPr algn="just"/>
            <a:r>
              <a:rPr lang="en-KH" sz="2000" dirty="0">
                <a:latin typeface="Century" panose="02040604050505020304" pitchFamily="18" charset="0"/>
              </a:rPr>
              <a:t>Application-Layer Validation &amp; Self-Correction Loops</a:t>
            </a:r>
          </a:p>
        </p:txBody>
      </p:sp>
      <p:pic>
        <p:nvPicPr>
          <p:cNvPr id="4" name="Picture 3">
            <a:extLst>
              <a:ext uri="{FF2B5EF4-FFF2-40B4-BE49-F238E27FC236}">
                <a16:creationId xmlns:a16="http://schemas.microsoft.com/office/drawing/2014/main" id="{A458FB57-8CB5-7116-34D2-60E2920D9733}"/>
              </a:ext>
            </a:extLst>
          </p:cNvPr>
          <p:cNvPicPr>
            <a:picLocks noChangeAspect="1"/>
          </p:cNvPicPr>
          <p:nvPr/>
        </p:nvPicPr>
        <p:blipFill>
          <a:blip r:embed="rId3"/>
          <a:stretch>
            <a:fillRect/>
          </a:stretch>
        </p:blipFill>
        <p:spPr>
          <a:xfrm>
            <a:off x="1210733" y="922867"/>
            <a:ext cx="9770533" cy="5453320"/>
          </a:xfrm>
          <a:prstGeom prst="rect">
            <a:avLst/>
          </a:prstGeom>
        </p:spPr>
      </p:pic>
    </p:spTree>
    <p:extLst>
      <p:ext uri="{BB962C8B-B14F-4D97-AF65-F5344CB8AC3E}">
        <p14:creationId xmlns:p14="http://schemas.microsoft.com/office/powerpoint/2010/main" val="2123602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481C5-A708-6EAA-90EE-0B7FB1F51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F4BEC-923D-5486-25BF-9AAF9EF1C26E}"/>
              </a:ext>
            </a:extLst>
          </p:cNvPr>
          <p:cNvSpPr>
            <a:spLocks noGrp="1"/>
          </p:cNvSpPr>
          <p:nvPr>
            <p:ph type="ctrTitle"/>
          </p:nvPr>
        </p:nvSpPr>
        <p:spPr>
          <a:xfrm>
            <a:off x="0" y="0"/>
            <a:ext cx="12192000" cy="609600"/>
          </a:xfrm>
        </p:spPr>
        <p:txBody>
          <a:bodyPr>
            <a:normAutofit/>
          </a:bodyPr>
          <a:lstStyle/>
          <a:p>
            <a:pPr algn="just"/>
            <a:r>
              <a:rPr lang="en-KH" sz="2000" dirty="0">
                <a:latin typeface="Century" panose="02040604050505020304" pitchFamily="18" charset="0"/>
              </a:rPr>
              <a:t>Schema Drifting in Production: Detection &amp; Root Causes</a:t>
            </a:r>
          </a:p>
        </p:txBody>
      </p:sp>
      <p:pic>
        <p:nvPicPr>
          <p:cNvPr id="6" name="Picture 5">
            <a:extLst>
              <a:ext uri="{FF2B5EF4-FFF2-40B4-BE49-F238E27FC236}">
                <a16:creationId xmlns:a16="http://schemas.microsoft.com/office/drawing/2014/main" id="{85B761EE-0971-E6A1-7308-34151BF27E60}"/>
              </a:ext>
            </a:extLst>
          </p:cNvPr>
          <p:cNvPicPr>
            <a:picLocks noChangeAspect="1"/>
          </p:cNvPicPr>
          <p:nvPr/>
        </p:nvPicPr>
        <p:blipFill>
          <a:blip r:embed="rId3"/>
          <a:stretch>
            <a:fillRect/>
          </a:stretch>
        </p:blipFill>
        <p:spPr>
          <a:xfrm>
            <a:off x="1159933" y="973666"/>
            <a:ext cx="9872133" cy="5510027"/>
          </a:xfrm>
          <a:prstGeom prst="rect">
            <a:avLst/>
          </a:prstGeom>
        </p:spPr>
      </p:pic>
    </p:spTree>
    <p:extLst>
      <p:ext uri="{BB962C8B-B14F-4D97-AF65-F5344CB8AC3E}">
        <p14:creationId xmlns:p14="http://schemas.microsoft.com/office/powerpoint/2010/main" val="119978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1138C-BD14-F1F1-2913-28870F93D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AA84-345F-06D2-9CA8-51B1D1CF14E0}"/>
              </a:ext>
            </a:extLst>
          </p:cNvPr>
          <p:cNvSpPr>
            <a:spLocks noGrp="1"/>
          </p:cNvSpPr>
          <p:nvPr>
            <p:ph type="ctrTitle"/>
          </p:nvPr>
        </p:nvSpPr>
        <p:spPr>
          <a:xfrm>
            <a:off x="0" y="0"/>
            <a:ext cx="12192000" cy="609600"/>
          </a:xfrm>
        </p:spPr>
        <p:txBody>
          <a:bodyPr>
            <a:normAutofit/>
          </a:bodyPr>
          <a:lstStyle/>
          <a:p>
            <a:pPr algn="just"/>
            <a:r>
              <a:rPr lang="en-KH" sz="2000" dirty="0">
                <a:latin typeface="Century" panose="02040604050505020304" pitchFamily="18" charset="0"/>
              </a:rPr>
              <a:t>Production Remediation &amp; Architectural Resilence</a:t>
            </a:r>
          </a:p>
        </p:txBody>
      </p:sp>
      <p:pic>
        <p:nvPicPr>
          <p:cNvPr id="5" name="Picture 4">
            <a:extLst>
              <a:ext uri="{FF2B5EF4-FFF2-40B4-BE49-F238E27FC236}">
                <a16:creationId xmlns:a16="http://schemas.microsoft.com/office/drawing/2014/main" id="{D9BD78C5-B67F-CF82-ACBE-87A874D86291}"/>
              </a:ext>
            </a:extLst>
          </p:cNvPr>
          <p:cNvPicPr>
            <a:picLocks noChangeAspect="1"/>
          </p:cNvPicPr>
          <p:nvPr/>
        </p:nvPicPr>
        <p:blipFill>
          <a:blip r:embed="rId3"/>
          <a:stretch>
            <a:fillRect/>
          </a:stretch>
        </p:blipFill>
        <p:spPr>
          <a:xfrm>
            <a:off x="1210733" y="905933"/>
            <a:ext cx="9770533" cy="5453320"/>
          </a:xfrm>
          <a:prstGeom prst="rect">
            <a:avLst/>
          </a:prstGeom>
        </p:spPr>
      </p:pic>
    </p:spTree>
    <p:extLst>
      <p:ext uri="{BB962C8B-B14F-4D97-AF65-F5344CB8AC3E}">
        <p14:creationId xmlns:p14="http://schemas.microsoft.com/office/powerpoint/2010/main" val="214264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3696-A692-F710-841F-4F1B199E8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37EC3-E83C-E12F-AE78-454C065A26C2}"/>
              </a:ext>
            </a:extLst>
          </p:cNvPr>
          <p:cNvSpPr>
            <a:spLocks noGrp="1"/>
          </p:cNvSpPr>
          <p:nvPr>
            <p:ph type="ctrTitle"/>
          </p:nvPr>
        </p:nvSpPr>
        <p:spPr>
          <a:xfrm>
            <a:off x="0" y="0"/>
            <a:ext cx="12192000" cy="609600"/>
          </a:xfrm>
        </p:spPr>
        <p:txBody>
          <a:bodyPr>
            <a:normAutofit/>
          </a:bodyPr>
          <a:lstStyle/>
          <a:p>
            <a:pPr algn="just"/>
            <a:r>
              <a:rPr lang="en-KH" sz="2000" dirty="0">
                <a:latin typeface="Century" panose="02040604050505020304" pitchFamily="18" charset="0"/>
              </a:rPr>
              <a:t>Summary &amp; Systems Engineering Takeaways</a:t>
            </a:r>
          </a:p>
        </p:txBody>
      </p:sp>
      <p:sp>
        <p:nvSpPr>
          <p:cNvPr id="3" name="TextBox 2">
            <a:extLst>
              <a:ext uri="{FF2B5EF4-FFF2-40B4-BE49-F238E27FC236}">
                <a16:creationId xmlns:a16="http://schemas.microsoft.com/office/drawing/2014/main" id="{21637DB6-682B-9F74-FA61-F485499AAD6C}"/>
              </a:ext>
            </a:extLst>
          </p:cNvPr>
          <p:cNvSpPr txBox="1"/>
          <p:nvPr/>
        </p:nvSpPr>
        <p:spPr>
          <a:xfrm>
            <a:off x="609599" y="1192696"/>
            <a:ext cx="10126133" cy="1477328"/>
          </a:xfrm>
          <a:prstGeom prst="rect">
            <a:avLst/>
          </a:prstGeom>
          <a:noFill/>
        </p:spPr>
        <p:txBody>
          <a:bodyPr wrap="square" rtlCol="0">
            <a:spAutoFit/>
          </a:bodyPr>
          <a:lstStyle/>
          <a:p>
            <a:pPr marL="285750" indent="-285750">
              <a:buFont typeface="Arial" panose="020B0604020202020204" pitchFamily="34" charset="0"/>
              <a:buChar char="•"/>
            </a:pPr>
            <a:r>
              <a:rPr lang="en-KH" dirty="0">
                <a:latin typeface="Century" panose="02040604050505020304" pitchFamily="18" charset="0"/>
              </a:rPr>
              <a:t>Do not rely on prompt engineering alone </a:t>
            </a:r>
            <a:r>
              <a:rPr lang="en-KH" dirty="0">
                <a:latin typeface="Century" panose="02040604050505020304" pitchFamily="18" charset="0"/>
                <a:sym typeface="Wingdings" pitchFamily="2" charset="2"/>
              </a:rPr>
              <a:t>BUT rely on constrained decoding for good syntax</a:t>
            </a:r>
            <a:endParaRPr lang="en-KH" dirty="0">
              <a:latin typeface="Century" panose="02040604050505020304" pitchFamily="18" charset="0"/>
            </a:endParaRPr>
          </a:p>
          <a:p>
            <a:pPr marL="285750" indent="-285750">
              <a:buFont typeface="Arial" panose="020B0604020202020204" pitchFamily="34" charset="0"/>
              <a:buChar char="•"/>
            </a:pPr>
            <a:endParaRPr lang="en-KH" dirty="0">
              <a:latin typeface="Century" panose="02040604050505020304" pitchFamily="18" charset="0"/>
            </a:endParaRPr>
          </a:p>
          <a:p>
            <a:pPr marL="285750" indent="-285750">
              <a:buFont typeface="Arial" panose="020B0604020202020204" pitchFamily="34" charset="0"/>
              <a:buChar char="•"/>
            </a:pPr>
            <a:r>
              <a:rPr lang="en-KH" dirty="0">
                <a:latin typeface="Century" panose="02040604050505020304" pitchFamily="18" charset="0"/>
              </a:rPr>
              <a:t>Validate semantically at the application level using Pydantic or Zod</a:t>
            </a:r>
          </a:p>
          <a:p>
            <a:pPr marL="285750" indent="-285750">
              <a:buFont typeface="Arial" panose="020B0604020202020204" pitchFamily="34" charset="0"/>
              <a:buChar char="•"/>
            </a:pPr>
            <a:endParaRPr lang="en-KH" dirty="0">
              <a:latin typeface="Century" panose="02040604050505020304" pitchFamily="18" charset="0"/>
            </a:endParaRPr>
          </a:p>
          <a:p>
            <a:pPr marL="285750" indent="-285750">
              <a:buFont typeface="Arial" panose="020B0604020202020204" pitchFamily="34" charset="0"/>
              <a:buChar char="•"/>
            </a:pPr>
            <a:r>
              <a:rPr lang="en-KH" dirty="0">
                <a:latin typeface="Century" panose="02040604050505020304" pitchFamily="18" charset="0"/>
              </a:rPr>
              <a:t>Implement Dead-Letter Queues (DLQs) for continuous monitoring</a:t>
            </a:r>
          </a:p>
        </p:txBody>
      </p:sp>
    </p:spTree>
    <p:extLst>
      <p:ext uri="{BB962C8B-B14F-4D97-AF65-F5344CB8AC3E}">
        <p14:creationId xmlns:p14="http://schemas.microsoft.com/office/powerpoint/2010/main" val="13414042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E9A61C8D-650B-4B4C-892E-D4D4528490F6}">
  <we:reference id="WA200010215" version="2.0.0.1" store="Omex" storeType="OMEX"/>
  <we:alternateReferences>
    <we:reference id="WA200010215" version="2.0.0.1" store="WA200010215"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5943C13-98E0-664B-B649-8D6A62EFA207}">
  <we:reference id="WA200010725" version="1.0.0.1" store="Omex" storeType="OMEX"/>
  <we:alternateReferences>
    <we:reference id="WA200010725" version="1.0.0.1" store="WA200010725" storeType="OMEX"/>
  </we:alternateReferences>
  <we:properties>
    <we:property name="claude.fileId" value="&quot;7f9f1eec-d4f0-4f9a-a0eb-27421a8416ac&quot;"/>
  </we:properties>
  <we:bindings/>
  <we:snapshot xmlns:r="http://schemas.openxmlformats.org/officeDocument/2006/relationships"/>
</we:webextension>
</file>

<file path=ppt/webextensions/webextension3.xml><?xml version="1.0" encoding="utf-8"?>
<we:webextension xmlns:we="http://schemas.microsoft.com/office/webextensions/webextension/2010/11" id="{67EF8C04-6B26-5E4C-93F2-369FA08309A6}">
  <we:reference id="WA200010001" version="1.0.0.1" store="Omex" storeType="OMEX"/>
  <we:alternateReferences>
    <we:reference id="WA200010001" version="1.0.0.1" store="WA200010001" storeType="OMEX"/>
  </we:alternateReferences>
  <we:properties>
    <we:property name="claude.fileId" value="&quot;4ed8ce58-00b1-405b-a940-a66239074d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Ion</Template>
  <TotalTime>1626</TotalTime>
  <Words>147</Words>
  <Application>Microsoft Macintosh PowerPoint</Application>
  <PresentationFormat>Widescreen</PresentationFormat>
  <Paragraphs>18</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Century</vt:lpstr>
      <vt:lpstr>Century Gothic</vt:lpstr>
      <vt:lpstr>Wingdings 3</vt:lpstr>
      <vt:lpstr>Ion</vt:lpstr>
      <vt:lpstr>Tech Interview Prep:  Guaranteed Structured Outputs &amp; Production Schema Remediation  “How do you guarantee that an LLM outputs parseable JSON for downstream services, and how do you remediate schema drifting in production?”   1) How to guarantee structured output during generation 2) How to detect and remediate schema drift in production   </vt:lpstr>
      <vt:lpstr>Enforcement Mechanisms: Token-Level Constrained Decoding</vt:lpstr>
      <vt:lpstr>Application-Layer Validation &amp; Self-Correction Loops</vt:lpstr>
      <vt:lpstr>Schema Drifting in Production: Detection &amp; Root Causes</vt:lpstr>
      <vt:lpstr>Production Remediation &amp; Architectural Resilence</vt:lpstr>
      <vt:lpstr>Summary &amp; Systems Engineering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Sen Dara</dc:creator>
  <cp:lastModifiedBy>Sen Dara</cp:lastModifiedBy>
  <cp:revision>4</cp:revision>
  <dcterms:created xsi:type="dcterms:W3CDTF">2026-10-08T05:19:11Z</dcterms:created>
  <dcterms:modified xsi:type="dcterms:W3CDTF">2026-10-23T07:49:31Z</dcterms:modified>
</cp:coreProperties>
</file>